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236" y="2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955945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0ed32135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0ed321356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0ed32135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0ed32135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0ed32135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0ed32135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0ed321356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0ed321356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0ed321356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0ed321356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0ed3213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0ed3213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0ed3213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0ed3213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0ed32135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0ed321356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0ed321356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0ed321356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0ed32135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0ed321356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0ed32135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0ed32135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0ed321356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0ed321356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Slide 1: Title Slide&#10;Main Title: A Risk-Adjusted Time-Series Trading Strategy&#10;&#10;Subtitle: Out-of-Sample Evaluation on SPY (2022–2025)&#10;&#10;Team Name: [Insert Group Name]&#10;&#10;Date: December 16, 20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" y="20059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BE0FBA-6CA2-B055-87B4-6903DA5F9C81}"/>
              </a:ext>
            </a:extLst>
          </p:cNvPr>
          <p:cNvSpPr/>
          <p:nvPr/>
        </p:nvSpPr>
        <p:spPr>
          <a:xfrm>
            <a:off x="5715000" y="4102100"/>
            <a:ext cx="30480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F14D1-D80C-6C45-1D72-EE8CA5D6A4E6}"/>
              </a:ext>
            </a:extLst>
          </p:cNvPr>
          <p:cNvSpPr txBox="1"/>
          <p:nvPr/>
        </p:nvSpPr>
        <p:spPr>
          <a:xfrm>
            <a:off x="5715000" y="4068346"/>
            <a:ext cx="30480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Siri Vennela &amp; Team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822A96-08D2-B5E5-715B-3EDC9D6928F6}"/>
              </a:ext>
            </a:extLst>
          </p:cNvPr>
          <p:cNvCxnSpPr>
            <a:cxnSpLocks/>
          </p:cNvCxnSpPr>
          <p:nvPr/>
        </p:nvCxnSpPr>
        <p:spPr>
          <a:xfrm>
            <a:off x="5715000" y="4102100"/>
            <a:ext cx="30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descr="Slide 2: Project Objective&#10;Goal: Design and evaluate a rule-based trading strategy using historical data for the S&amp;P 500 ETF (SPY).&#10;&#10;Core Challenge: The strategy must be profitable and risk-managed on unseen data (&quot;Out-of-Sample&quot;) while accounting for realistic transaction frictions.&#10;&#10;The Workflow:&#10;&#10;Data Acquisition &amp; Cleaning (Yahoo Finance).&#10;&#10;Feature Engineering (Simple Moving Averages).&#10;&#10;Chronological Train/Test Split.&#10;&#10;Backtesting with Transaction Cost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descr="Slide 3: Constraints &amp; Success CriteriaInvestment Constraints:Initial Capital: $10,000Transaction Costs: 0.2% per trade (Applied to both Entry and Exit).The &quot;Pass&quot; Criteria (Test Period):Annual Return (CAGR): $&gt; 5\%$Sharpe Ratio: $&gt; 0.8$ (High risk-adjusted return)Max Drawdown: $&lt; 50\%$ (Capital preservation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descr="Slide 4: Data MethodologyAsset: SPY (SPDR S&amp;P 500 ETF Trust)Data Split:Training (In-Sample): Dec 1, 2022 $\to$ Dec 1, 2024Purpose: Strategy development &amp; Parameter tuning.Testing (Out-of-Sample): Dec 1, 2024 $\to$ Dec 12, 2025Purpose: Final &quot;Pass/Fail&quot; Evaluation.Why strict dates? To prevent &quot;Look-Ahead Bias&quot;—we cannot train on data we haven't seen yet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descr="Slide 5: The Strategy LogicType: Trend Following (Momentum).Indicator: Simple Moving Average (SMA).The Rules:BUY Signal: When Price $&gt;$ SMA (Market is in an uptrend).SELL (Cash) Signal: When Price $&lt;$ SMA (Market is in a downtrend).Rationale: Captures major market moves while moving to cash during prolonged corrections to minimize drawdown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descr="Slide 6: Training Phase - Model Selection&#10;We tested two window lengths on the Training Data (2022-2024):&#10;&#10;Baseline (SMA 200): The industry standard for long-term trends.&#10;&#10;Challenger (SMA 150): A slightly faster signal to react quicker to reversals.&#10;&#10;Training Insight: Both models performed well in training (CAGR ~15-16%), but we needed to see which would survive the volatile Test period with fee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descr="Slide 7: Baseline Results (SMA 200) - The &quot;Fail&quot;&#10;Evaluation Period: Dec 2024 – Dec 2025&#10;&#10;Performance:&#10;&#10;Annual Return: 2.2%&#10;&#10;Sharpe Ratio: 0.40&#10;&#10;Max Drawdown: -5.1%&#10;&#10;Verdict: FAIL. The 200-day SMA was too slow. It missed the required 5% return target because it reacted too slowly to price recovery, and transaction costs ate up the small profit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575" y="17986"/>
            <a:ext cx="9143544" cy="5107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0"/>
          <p:cNvPicPr preferRelativeResize="0"/>
          <p:nvPr/>
        </p:nvPicPr>
        <p:blipFill rotWithShape="1">
          <a:blip r:embed="rId4">
            <a:alphaModFix/>
          </a:blip>
          <a:srcRect l="-11570" r="11570"/>
          <a:stretch/>
        </p:blipFill>
        <p:spPr>
          <a:xfrm>
            <a:off x="329150" y="1275650"/>
            <a:ext cx="5349276" cy="30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 descr="Slide 10: Risk Management (Drawdowns)&#10;(Insert the &quot;Final: Test Drawdown&quot; plot from your notebook here) * Drawdown Analysis:&#10;&#10;The strategy never lost more than 5.1% from a peak.&#10;&#10;This is significantly safer than the 50% allowance.&#10;&#10;The &quot;move to cash&quot; rule successfully protected capital during market dip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1725" y="1227175"/>
            <a:ext cx="4840925" cy="314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 descr="Slide 11: Summary TableMetricGoalBaseline (SMA 200)Final (SMA 150)StatusCAGR$&gt; 5\%$2.2%8.6%PASSSharpe$&gt; 0.8$0.401.17PASSMax DD$&lt; 50\%$-5.1%-5.1%PAS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3" descr="Slide 12: Conclusion &amp; Future Work&#10;Conclusion:&#10;&#10;A simple trend-following strategy (SMA 150) is viable for SPY.&#10;&#10;It effectively beats the transaction friction (0.2%) while strictly limiting risk.&#10;&#10;Future Improvements:&#10;&#10;Regime Filter: Add a &quot;Volatility Filter&quot; (like VIX) to stop trading during choppy sideways markets.&#10;&#10;Optimization: Test Exponential Moving Averages (EMA) for faster reactions.&#10;&#10;Diversification: Apply the same logic to other assets (Gold, Bonds) to smooth the equity curve further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4" descr="Slide 13: Q&amp;A&#10;Thank you!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Office PowerPoint</Application>
  <PresentationFormat>On-screen Show (16:9)</PresentationFormat>
  <Paragraphs>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 Vennela Immadi</dc:creator>
  <cp:lastModifiedBy>sirivennelaimmadi476@gmail.com</cp:lastModifiedBy>
  <cp:revision>3</cp:revision>
  <dcterms:modified xsi:type="dcterms:W3CDTF">2025-12-18T06:50:31Z</dcterms:modified>
</cp:coreProperties>
</file>